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75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274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77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c64e9295e_8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5" name="Google Shape;85;g3bc64e9295e_8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g3bc64e9295e_8_4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1" name="Google Shape;24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2" name="Google Shape;24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766732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64e9295e_8_40"/>
          <p:cNvSpPr txBox="1">
            <a:spLocks noGrp="1"/>
          </p:cNvSpPr>
          <p:nvPr>
            <p:ph type="ctrTitle"/>
          </p:nvPr>
        </p:nvSpPr>
        <p:spPr>
          <a:xfrm>
            <a:off x="924910" y="2351183"/>
            <a:ext cx="10428344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200" b="1" dirty="0">
                <a:latin typeface="Times New Roman" panose="02020603050405020304"/>
                <a:cs typeface="Times New Roman" panose="02020603050405020304"/>
              </a:rPr>
              <a:t>EMBEDDABLE LSM-TREE STORAGE ENGINE</a:t>
            </a:r>
            <a:br>
              <a:rPr lang="en-US" sz="32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DSA 0105-Object Oriented Programming With C++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Google Shape;89;g3bc64e9295e_8_4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bc64e9295e_8_4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bc64e9295e_8_40"/>
          <p:cNvSpPr txBox="1"/>
          <p:nvPr/>
        </p:nvSpPr>
        <p:spPr>
          <a:xfrm>
            <a:off x="3441900" y="335165"/>
            <a:ext cx="5308200" cy="1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US" sz="2800" b="1" i="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endParaRPr sz="2800" b="1" i="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58240" marR="5080" lvl="0" indent="-1146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SAVEETHA INSTITUTE OF MEDICAL AND TECHNICAL SCIENCES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2" name="Google Shape;92;g3bc64e9295e_8_40"/>
          <p:cNvSpPr txBox="1"/>
          <p:nvPr/>
        </p:nvSpPr>
        <p:spPr>
          <a:xfrm>
            <a:off x="7498079" y="5074920"/>
            <a:ext cx="44805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Prasanth R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192421371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Sanjay Kumar D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192421144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Aadhithya V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192511256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 Edvin Joshva J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192421219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g3bc64e9295e_8_40"/>
          <p:cNvSpPr txBox="1"/>
          <p:nvPr/>
        </p:nvSpPr>
        <p:spPr>
          <a:xfrm>
            <a:off x="756688" y="5081034"/>
            <a:ext cx="3446196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by:</a:t>
            </a:r>
          </a:p>
          <a:p>
            <a:pPr lvl="0">
              <a:lnSpc>
                <a:spcPct val="150000"/>
              </a:lnSpc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 JEGADEESH K</a:t>
            </a:r>
          </a:p>
          <a:p>
            <a:pPr lvl="0">
              <a:lnSpc>
                <a:spcPct val="150000"/>
              </a:lnSpc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Industrial Professional</a:t>
            </a:r>
          </a:p>
          <a:p>
            <a:pPr lvl="0">
              <a:lnSpc>
                <a:spcPct val="150000"/>
              </a:lnSpc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Coimbatore</a:t>
            </a:r>
            <a:endParaRPr sz="16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g3bc64e9295e_8_40"/>
          <p:cNvSpPr txBox="1"/>
          <p:nvPr/>
        </p:nvSpPr>
        <p:spPr>
          <a:xfrm>
            <a:off x="7498079" y="47091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 (Team No. 8):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ABSTRACT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737360"/>
            <a:ext cx="612648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An embeddable key-value storage engine built on the Log-Structured Merge (LSM) tree, written in C++17.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Writes are logged to a checksummed write-ahead log and inserted into an in-memory skip list.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Full MemTables are flushed to sorted, checksummed SSTable files on disk.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 background thread compacts SSTables and swaps an atomic manifest to keep reads fast.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Fault injection, crash tests and a C++ web console verify and expose the engine.</a:t>
            </a:r>
          </a:p>
        </p:txBody>
      </p:sp>
      <p:sp>
        <p:nvSpPr>
          <p:cNvPr id="6" name="Module card 1"/>
          <p:cNvSpPr/>
          <p:nvPr/>
        </p:nvSpPr>
        <p:spPr>
          <a:xfrm>
            <a:off x="7040880" y="1737360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1F7AA8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1: MemTable and WAL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Prasanth R</a:t>
            </a:r>
          </a:p>
        </p:txBody>
      </p:sp>
      <p:sp>
        <p:nvSpPr>
          <p:cNvPr id="7" name="Module card 2"/>
          <p:cNvSpPr/>
          <p:nvPr/>
        </p:nvSpPr>
        <p:spPr>
          <a:xfrm>
            <a:off x="7040880" y="2907791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5FA83A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2: SSTable Writer and Reader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Sanjay Kumar D</a:t>
            </a:r>
          </a:p>
        </p:txBody>
      </p:sp>
      <p:sp>
        <p:nvSpPr>
          <p:cNvPr id="8" name="Module card 3"/>
          <p:cNvSpPr/>
          <p:nvPr/>
        </p:nvSpPr>
        <p:spPr>
          <a:xfrm>
            <a:off x="7040880" y="4078224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E8643A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3: Compaction Engine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Aadhithya V</a:t>
            </a:r>
          </a:p>
        </p:txBody>
      </p:sp>
      <p:sp>
        <p:nvSpPr>
          <p:cNvPr id="9" name="Module card 4"/>
          <p:cNvSpPr/>
          <p:nvPr/>
        </p:nvSpPr>
        <p:spPr>
          <a:xfrm>
            <a:off x="7040880" y="5248656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4: Benchmark and Fault Injection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Joy Edvin Joshva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737360"/>
            <a:ext cx="530352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Write-heavy applications suffer when every update becomes a random, in-place disk write.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 crash in the middle of a write can leave torn data or lose acknowledged writes.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Production storage engines are large and hard to study, test or embed in small programs.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Why it matters: logging, metrics, messaging and edge devices need a small, crash-safe, embeddable store.</a:t>
            </a:r>
          </a:p>
        </p:txBody>
      </p:sp>
      <p:pic>
        <p:nvPicPr>
          <p:cNvPr id="6" name="Problem comparison diagram" descr="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83080"/>
            <a:ext cx="5486400" cy="4029075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OBJECTIVES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Objective 1"/>
          <p:cNvSpPr/>
          <p:nvPr/>
        </p:nvSpPr>
        <p:spPr>
          <a:xfrm>
            <a:off x="1280160" y="17373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Build a persistent LSM-tree key-value engine with Put, Get and Delete in C++17</a:t>
            </a:r>
          </a:p>
        </p:txBody>
      </p:sp>
      <p:sp>
        <p:nvSpPr>
          <p:cNvPr id="6" name="Number 1"/>
          <p:cNvSpPr/>
          <p:nvPr/>
        </p:nvSpPr>
        <p:spPr>
          <a:xfrm>
            <a:off x="548640" y="1737360"/>
            <a:ext cx="777240" cy="7772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Objective 2"/>
          <p:cNvSpPr/>
          <p:nvPr/>
        </p:nvSpPr>
        <p:spPr>
          <a:xfrm>
            <a:off x="1280160" y="26517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Guarantee durability with a CRC32C-protected write-ahead log and crash recovery</a:t>
            </a:r>
          </a:p>
        </p:txBody>
      </p:sp>
      <p:sp>
        <p:nvSpPr>
          <p:cNvPr id="8" name="Number 2"/>
          <p:cNvSpPr/>
          <p:nvPr/>
        </p:nvSpPr>
        <p:spPr>
          <a:xfrm>
            <a:off x="548640" y="2651760"/>
            <a:ext cx="777240" cy="777240"/>
          </a:xfrm>
          <a:prstGeom prst="ellipse">
            <a:avLst/>
          </a:prstGeom>
          <a:solidFill>
            <a:srgbClr val="5FA8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Objective 3"/>
          <p:cNvSpPr/>
          <p:nvPr/>
        </p:nvSpPr>
        <p:spPr>
          <a:xfrm>
            <a:off x="1280160" y="35661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Store sorted data in checksummed SSTables with a block index and footer</a:t>
            </a:r>
          </a:p>
        </p:txBody>
      </p:sp>
      <p:sp>
        <p:nvSpPr>
          <p:cNvPr id="10" name="Number 3"/>
          <p:cNvSpPr/>
          <p:nvPr/>
        </p:nvSpPr>
        <p:spPr>
          <a:xfrm>
            <a:off x="548640" y="3566160"/>
            <a:ext cx="777240" cy="77724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Objective 4"/>
          <p:cNvSpPr/>
          <p:nvPr/>
        </p:nvSpPr>
        <p:spPr>
          <a:xfrm>
            <a:off x="1280160" y="44805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Keep reads fast and space bounded using background compaction and an atomic manifest</a:t>
            </a:r>
          </a:p>
        </p:txBody>
      </p:sp>
      <p:sp>
        <p:nvSpPr>
          <p:cNvPr id="12" name="Number 4"/>
          <p:cNvSpPr/>
          <p:nvPr/>
        </p:nvSpPr>
        <p:spPr>
          <a:xfrm>
            <a:off x="548640" y="4480560"/>
            <a:ext cx="777240" cy="7772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" name="Objective 5"/>
          <p:cNvSpPr/>
          <p:nvPr/>
        </p:nvSpPr>
        <p:spPr>
          <a:xfrm>
            <a:off x="1280160" y="53949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Prove correctness with fault injection, sanitizers, benchmarks and a C++ web console</a:t>
            </a:r>
          </a:p>
        </p:txBody>
      </p:sp>
      <p:sp>
        <p:nvSpPr>
          <p:cNvPr id="14" name="Number 5"/>
          <p:cNvSpPr/>
          <p:nvPr/>
        </p:nvSpPr>
        <p:spPr>
          <a:xfrm>
            <a:off x="548640" y="5394960"/>
            <a:ext cx="777240" cy="7772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PROPOSED SYSTEM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graphicFrame>
        <p:nvGraphicFramePr>
          <p:cNvPr id="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55564"/>
              </p:ext>
            </p:extLst>
          </p:nvPr>
        </p:nvGraphicFramePr>
        <p:xfrm>
          <a:off x="548640" y="1737360"/>
          <a:ext cx="11064240" cy="3413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Existing approach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Proposed LSM engine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Writes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Random in-place page updates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Sequential WAL append plus in-memory MemTable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Durability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Hidden inside large engines, hard to verify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CRC32C-checked WAL, replay and torn-tail truncation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Reads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Single tree lookup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MemTable, then SSTables newest first using index and block CRC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Space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Fragmentation builds up over time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Background compaction drops stale versions and tombstones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Crash behaviour rarely tested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Fault-injecting file system with seeded crash tests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utcome callout"/>
          <p:cNvSpPr/>
          <p:nvPr/>
        </p:nvSpPr>
        <p:spPr>
          <a:xfrm>
            <a:off x="548640" y="557784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Result: a small, testable, crash-safe engine with a web console that shows what it is doing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SYSTEM ARCHITECTURE DIAGRAM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pic>
        <p:nvPicPr>
          <p:cNvPr id="5" name="Architecture diagram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" y="1627632"/>
            <a:ext cx="11155680" cy="5029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MODULE 1: MEMTABLE AND WAL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Skip list MemTable with ordered iteration and tombstones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Table-driven software CRC32C protects every record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WAL record format v1 with magic header and sequence numbers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Sync policy: every write, every N writes, or never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Recovery replays valid records and truncates a torn tail</a:t>
            </a:r>
          </a:p>
        </p:txBody>
      </p:sp>
      <p:pic>
        <p:nvPicPr>
          <p:cNvPr id="7" name="Module diagram" descr="mo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</a:rPr>
              <a:t>MODULE 2: SSTABLE WRITER AND READER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Writer emits data blocks, an index block and a 48-byte footer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Every block carries a CRC32C; corruption is reported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Reader binary searches the index by last key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Min and max keys skip files without any block read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Iterator for full scans; MemTable flush uses the writer</a:t>
            </a:r>
          </a:p>
        </p:txBody>
      </p:sp>
      <p:pic>
        <p:nvPicPr>
          <p:cNvPr id="7" name="Module diagram" descr="mo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MODULE 3: COMPACTION ENGINE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Manifest lists live SSTables per level and is swapped atomically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Merge iterator uses a min-heap: key order, newest sequence first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Level 0 compacts when it reaches the file limit (default 4)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Tombstones dropped only at the deepest level for the key range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Background thread; readers use shared_ptr snapshots</a:t>
            </a:r>
          </a:p>
        </p:txBody>
      </p:sp>
      <p:pic>
        <p:nvPicPr>
          <p:cNvPr id="7" name="Module diagram" descr="mo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</a:rPr>
              <a:t>MODULE 4: BENCHMARK AND FAULT INJECTION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FileSystem interface lets faults be injected under the engine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Crash tests compare the reopened engine with a reference map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Every failing run prints its seed so it can be replayed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Google Benchmark micro tests plus end-to-end workloads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Reports p50, p95 and p99 latency as CSV and Markdown</a:t>
            </a:r>
          </a:p>
        </p:txBody>
      </p:sp>
      <p:pic>
        <p:nvPicPr>
          <p:cNvPr id="7" name="Module diagram" descr="mo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SAMPLE OUTPUT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pic>
        <p:nvPicPr>
          <p:cNvPr id="5" name="Console screen Dashboard" descr="ui_d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3657600" cy="2743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6" name="Caption Dashboard"/>
          <p:cNvSpPr txBox="1"/>
          <p:nvPr/>
        </p:nvSpPr>
        <p:spPr>
          <a:xfrm>
            <a:off x="457200" y="4709160"/>
            <a:ext cx="3657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2A5B"/>
                </a:solidFill>
                <a:latin typeface="Times New Roman"/>
              </a:rPr>
              <a:t>Dashboard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MemTable, WAL and level summary</a:t>
            </a:r>
          </a:p>
        </p:txBody>
      </p:sp>
      <p:pic>
        <p:nvPicPr>
          <p:cNvPr id="7" name="Console screen Browse" descr="ui_brow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28800"/>
            <a:ext cx="3657600" cy="2743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8" name="Caption Browse"/>
          <p:cNvSpPr txBox="1"/>
          <p:nvPr/>
        </p:nvSpPr>
        <p:spPr>
          <a:xfrm>
            <a:off x="4297680" y="4709160"/>
            <a:ext cx="3657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2A5B"/>
                </a:solidFill>
                <a:latin typeface="Times New Roman"/>
              </a:rPr>
              <a:t>Browse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Get and Put by key; deleted keys shown</a:t>
            </a:r>
          </a:p>
        </p:txBody>
      </p:sp>
      <p:pic>
        <p:nvPicPr>
          <p:cNvPr id="9" name="Console screen Stats" descr="ui_sta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1828800"/>
            <a:ext cx="3657600" cy="2743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0" name="Caption Stats"/>
          <p:cNvSpPr txBox="1"/>
          <p:nvPr/>
        </p:nvSpPr>
        <p:spPr>
          <a:xfrm>
            <a:off x="8138160" y="4709160"/>
            <a:ext cx="3657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2A5B"/>
                </a:solidFill>
                <a:latin typeface="Times New Roman"/>
              </a:rPr>
              <a:t>Stats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Files and bytes per level</a:t>
            </a:r>
          </a:p>
        </p:txBody>
      </p:sp>
      <p:sp>
        <p:nvSpPr>
          <p:cNvPr id="11" name="Output note"/>
          <p:cNvSpPr/>
          <p:nvPr/>
        </p:nvSpPr>
        <p:spPr>
          <a:xfrm>
            <a:off x="457200" y="566928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DCEBF5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/>
            <a:r>
              <a:rPr sz="1700" b="0" i="0">
                <a:solidFill>
                  <a:srgbClr val="000000"/>
                </a:solidFill>
                <a:latin typeface="Times New Roman"/>
              </a:rPr>
              <a:t>Server-rendered C++ console (HTML and CSS only), responsive from phone to desktop. Sample data shown.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ADVANTAGES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Advantage card 1"/>
          <p:cNvSpPr/>
          <p:nvPr/>
        </p:nvSpPr>
        <p:spPr>
          <a:xfrm>
            <a:off x="502920" y="1737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DCEB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1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Advantage title 1"/>
          <p:cNvSpPr txBox="1"/>
          <p:nvPr/>
        </p:nvSpPr>
        <p:spPr>
          <a:xfrm>
            <a:off x="1325880" y="1920240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1F7AA8"/>
                </a:solidFill>
                <a:latin typeface="Times New Roman"/>
              </a:rPr>
              <a:t>Crash-safe</a:t>
            </a:r>
          </a:p>
        </p:txBody>
      </p:sp>
      <p:sp>
        <p:nvSpPr>
          <p:cNvPr id="8" name="Advantage text 1"/>
          <p:cNvSpPr txBox="1"/>
          <p:nvPr/>
        </p:nvSpPr>
        <p:spPr>
          <a:xfrm>
            <a:off x="685800" y="260603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Checksummed WAL replay restores every acknowledged write</a:t>
            </a:r>
          </a:p>
        </p:txBody>
      </p:sp>
      <p:sp>
        <p:nvSpPr>
          <p:cNvPr id="9" name="Advantage card 2"/>
          <p:cNvSpPr/>
          <p:nvPr/>
        </p:nvSpPr>
        <p:spPr>
          <a:xfrm>
            <a:off x="4297680" y="1737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E3F1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dge 2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5FA8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Advantage title 2"/>
          <p:cNvSpPr txBox="1"/>
          <p:nvPr/>
        </p:nvSpPr>
        <p:spPr>
          <a:xfrm>
            <a:off x="5120640" y="1920240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5FA83A"/>
                </a:solidFill>
                <a:latin typeface="Times New Roman"/>
              </a:rPr>
              <a:t>Fast writes</a:t>
            </a:r>
          </a:p>
        </p:txBody>
      </p:sp>
      <p:sp>
        <p:nvSpPr>
          <p:cNvPr id="12" name="Advantage text 2"/>
          <p:cNvSpPr txBox="1"/>
          <p:nvPr/>
        </p:nvSpPr>
        <p:spPr>
          <a:xfrm>
            <a:off x="4480560" y="260603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Sequential appends and in-memory inserts avoid random disk I/O</a:t>
            </a:r>
          </a:p>
        </p:txBody>
      </p:sp>
      <p:sp>
        <p:nvSpPr>
          <p:cNvPr id="13" name="Advantage card 3"/>
          <p:cNvSpPr/>
          <p:nvPr/>
        </p:nvSpPr>
        <p:spPr>
          <a:xfrm>
            <a:off x="8092440" y="1737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BE3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dge 3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" name="Advantage title 3"/>
          <p:cNvSpPr txBox="1"/>
          <p:nvPr/>
        </p:nvSpPr>
        <p:spPr>
          <a:xfrm>
            <a:off x="8915400" y="1920240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E8643A"/>
                </a:solidFill>
                <a:latin typeface="Times New Roman"/>
              </a:rPr>
              <a:t>Integrity checks</a:t>
            </a:r>
          </a:p>
        </p:txBody>
      </p:sp>
      <p:sp>
        <p:nvSpPr>
          <p:cNvPr id="16" name="Advantage text 3"/>
          <p:cNvSpPr txBox="1"/>
          <p:nvPr/>
        </p:nvSpPr>
        <p:spPr>
          <a:xfrm>
            <a:off x="8275320" y="260603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CRC32C on WAL records, blocks, index and manifest detects corruption</a:t>
            </a:r>
          </a:p>
        </p:txBody>
      </p:sp>
      <p:sp>
        <p:nvSpPr>
          <p:cNvPr id="17" name="Advantage card 4"/>
          <p:cNvSpPr/>
          <p:nvPr/>
        </p:nvSpPr>
        <p:spPr>
          <a:xfrm>
            <a:off x="502920" y="4069079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DDE3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dge 4"/>
          <p:cNvSpPr/>
          <p:nvPr/>
        </p:nvSpPr>
        <p:spPr>
          <a:xfrm>
            <a:off x="685800" y="4251959"/>
            <a:ext cx="548640" cy="548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Advantage title 4"/>
          <p:cNvSpPr txBox="1"/>
          <p:nvPr/>
        </p:nvSpPr>
        <p:spPr>
          <a:xfrm>
            <a:off x="1325880" y="4251959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0B2A5B"/>
                </a:solidFill>
                <a:latin typeface="Times New Roman"/>
              </a:rPr>
              <a:t>Bounded space</a:t>
            </a:r>
          </a:p>
        </p:txBody>
      </p:sp>
      <p:sp>
        <p:nvSpPr>
          <p:cNvPr id="20" name="Advantage text 4"/>
          <p:cNvSpPr txBox="1"/>
          <p:nvPr/>
        </p:nvSpPr>
        <p:spPr>
          <a:xfrm>
            <a:off x="685800" y="493775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Background compaction removes stale versions and tombstones</a:t>
            </a:r>
          </a:p>
        </p:txBody>
      </p:sp>
      <p:sp>
        <p:nvSpPr>
          <p:cNvPr id="21" name="Advantage card 5"/>
          <p:cNvSpPr/>
          <p:nvPr/>
        </p:nvSpPr>
        <p:spPr>
          <a:xfrm>
            <a:off x="4297680" y="4069079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DCEB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5"/>
          <p:cNvSpPr/>
          <p:nvPr/>
        </p:nvSpPr>
        <p:spPr>
          <a:xfrm>
            <a:off x="4480560" y="4251959"/>
            <a:ext cx="548640" cy="5486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3" name="Advantage title 5"/>
          <p:cNvSpPr txBox="1"/>
          <p:nvPr/>
        </p:nvSpPr>
        <p:spPr>
          <a:xfrm>
            <a:off x="5120640" y="4251959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1F7AA8"/>
                </a:solidFill>
                <a:latin typeface="Times New Roman"/>
              </a:rPr>
              <a:t>Verifiable</a:t>
            </a:r>
          </a:p>
        </p:txBody>
      </p:sp>
      <p:sp>
        <p:nvSpPr>
          <p:cNvPr id="24" name="Advantage text 5"/>
          <p:cNvSpPr txBox="1"/>
          <p:nvPr/>
        </p:nvSpPr>
        <p:spPr>
          <a:xfrm>
            <a:off x="4480560" y="493775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Seeded crash tests, sanitizers and an 80 percent coverage target</a:t>
            </a:r>
          </a:p>
        </p:txBody>
      </p:sp>
      <p:sp>
        <p:nvSpPr>
          <p:cNvPr id="25" name="Advantage card 6"/>
          <p:cNvSpPr/>
          <p:nvPr/>
        </p:nvSpPr>
        <p:spPr>
          <a:xfrm>
            <a:off x="8092440" y="4069079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E3F1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adge 6"/>
          <p:cNvSpPr/>
          <p:nvPr/>
        </p:nvSpPr>
        <p:spPr>
          <a:xfrm>
            <a:off x="8275320" y="4251959"/>
            <a:ext cx="548640" cy="548640"/>
          </a:xfrm>
          <a:prstGeom prst="ellipse">
            <a:avLst/>
          </a:prstGeom>
          <a:solidFill>
            <a:srgbClr val="5FA8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7" name="Advantage title 6"/>
          <p:cNvSpPr txBox="1"/>
          <p:nvPr/>
        </p:nvSpPr>
        <p:spPr>
          <a:xfrm>
            <a:off x="8915400" y="4251959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5FA83A"/>
                </a:solidFill>
                <a:latin typeface="Times New Roman"/>
              </a:rPr>
              <a:t>Embeddable and open</a:t>
            </a:r>
          </a:p>
        </p:txBody>
      </p:sp>
      <p:sp>
        <p:nvSpPr>
          <p:cNvPr id="28" name="Advantage text 6"/>
          <p:cNvSpPr txBox="1"/>
          <p:nvPr/>
        </p:nvSpPr>
        <p:spPr>
          <a:xfrm>
            <a:off x="8275320" y="493775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Small C++17 library with a clean Db API, built with free open-source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737360"/>
            <a:ext cx="649224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The C++17 engine combines a checksummed WAL, skip-list MemTable, SSTables and background compaction.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Crash safety is verified with fault injection and seeded crash tests, not assumed.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A C++-only web console and benchmark harness make behaviour visible and measurable.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Outcome: a small, testable, documented storage engine that the team can extend.</a:t>
            </a:r>
          </a:p>
        </p:txBody>
      </p:sp>
      <p:sp>
        <p:nvSpPr>
          <p:cNvPr id="6" name="Stat card 1"/>
          <p:cNvSpPr/>
          <p:nvPr/>
        </p:nvSpPr>
        <p:spPr>
          <a:xfrm>
            <a:off x="7406640" y="178308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at value 1"/>
          <p:cNvSpPr txBox="1"/>
          <p:nvPr/>
        </p:nvSpPr>
        <p:spPr>
          <a:xfrm>
            <a:off x="7452360" y="196596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1F7AA8"/>
                </a:solidFill>
                <a:latin typeface="Times New Roman"/>
              </a:rPr>
              <a:t>4</a:t>
            </a:r>
          </a:p>
        </p:txBody>
      </p:sp>
      <p:sp>
        <p:nvSpPr>
          <p:cNvPr id="8" name="Stat label 1"/>
          <p:cNvSpPr txBox="1"/>
          <p:nvPr/>
        </p:nvSpPr>
        <p:spPr>
          <a:xfrm>
            <a:off x="7498079" y="2834639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modules, one per team member</a:t>
            </a:r>
          </a:p>
        </p:txBody>
      </p:sp>
      <p:sp>
        <p:nvSpPr>
          <p:cNvPr id="9" name="Stat card 2"/>
          <p:cNvSpPr/>
          <p:nvPr/>
        </p:nvSpPr>
        <p:spPr>
          <a:xfrm>
            <a:off x="9646920" y="178308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at value 2"/>
          <p:cNvSpPr txBox="1"/>
          <p:nvPr/>
        </p:nvSpPr>
        <p:spPr>
          <a:xfrm>
            <a:off x="9692640" y="196596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5FA83A"/>
                </a:solidFill>
                <a:latin typeface="Times New Roman"/>
              </a:rPr>
              <a:t>12</a:t>
            </a:r>
          </a:p>
        </p:txBody>
      </p:sp>
      <p:sp>
        <p:nvSpPr>
          <p:cNvPr id="11" name="Stat label 2"/>
          <p:cNvSpPr txBox="1"/>
          <p:nvPr/>
        </p:nvSpPr>
        <p:spPr>
          <a:xfrm>
            <a:off x="9738360" y="2834639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week development plan</a:t>
            </a:r>
          </a:p>
        </p:txBody>
      </p:sp>
      <p:sp>
        <p:nvSpPr>
          <p:cNvPr id="12" name="Stat card 3"/>
          <p:cNvSpPr/>
          <p:nvPr/>
        </p:nvSpPr>
        <p:spPr>
          <a:xfrm>
            <a:off x="7406640" y="3977639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at value 3"/>
          <p:cNvSpPr txBox="1"/>
          <p:nvPr/>
        </p:nvSpPr>
        <p:spPr>
          <a:xfrm>
            <a:off x="7452360" y="416052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E8643A"/>
                </a:solidFill>
                <a:latin typeface="Times New Roman"/>
              </a:rPr>
              <a:t>80%</a:t>
            </a:r>
          </a:p>
        </p:txBody>
      </p:sp>
      <p:sp>
        <p:nvSpPr>
          <p:cNvPr id="14" name="Stat label 3"/>
          <p:cNvSpPr txBox="1"/>
          <p:nvPr/>
        </p:nvSpPr>
        <p:spPr>
          <a:xfrm>
            <a:off x="7498079" y="5029200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line coverage target</a:t>
            </a:r>
          </a:p>
        </p:txBody>
      </p:sp>
      <p:sp>
        <p:nvSpPr>
          <p:cNvPr id="15" name="Stat card 4"/>
          <p:cNvSpPr/>
          <p:nvPr/>
        </p:nvSpPr>
        <p:spPr>
          <a:xfrm>
            <a:off x="9646920" y="3977639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t value 4"/>
          <p:cNvSpPr txBox="1"/>
          <p:nvPr/>
        </p:nvSpPr>
        <p:spPr>
          <a:xfrm>
            <a:off x="9692640" y="416052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0B2A5B"/>
                </a:solidFill>
                <a:latin typeface="Times New Roman"/>
              </a:rPr>
              <a:t>1000</a:t>
            </a:r>
          </a:p>
        </p:txBody>
      </p:sp>
      <p:sp>
        <p:nvSpPr>
          <p:cNvPr id="17" name="Stat label 4"/>
          <p:cNvSpPr txBox="1"/>
          <p:nvPr/>
        </p:nvSpPr>
        <p:spPr>
          <a:xfrm>
            <a:off x="9738360" y="5029200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seeded crash runs planned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/>
        </p:nvSpPr>
        <p:spPr>
          <a:xfrm>
            <a:off x="1740617" y="2374183"/>
            <a:ext cx="885825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dk1"/>
                </a:solidFill>
                <a:latin typeface="Algerian" panose="04020705040A02060702" pitchFamily="82" charset="0"/>
                <a:ea typeface="Times New Roman" panose="02020603050405020304"/>
                <a:cs typeface="Times New Roman Regular" panose="02020503050405090304" charset="0"/>
                <a:sym typeface="Times New Roman" panose="02020603050405020304"/>
              </a:rPr>
              <a:t>THANK YOU</a:t>
            </a:r>
            <a:endParaRPr sz="7200" dirty="0">
              <a:latin typeface="Algerian" panose="04020705040A02060702" pitchFamily="82" charset="0"/>
              <a:cs typeface="Times New Roman Regular" panose="02020503050405090304" charset="0"/>
            </a:endParaRPr>
          </a:p>
        </p:txBody>
      </p:sp>
      <p:sp>
        <p:nvSpPr>
          <p:cNvPr id="245" name="Closing line"/>
          <p:cNvSpPr txBox="1"/>
          <p:nvPr/>
        </p:nvSpPr>
        <p:spPr>
          <a:xfrm>
            <a:off x="1828800" y="4480560"/>
            <a:ext cx="8531352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endParaRPr sz="2800" b="1" i="0" dirty="0">
              <a:solidFill>
                <a:srgbClr val="0B2A5B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856</Words>
  <Application>Microsoft Office PowerPoint</Application>
  <PresentationFormat>Widescreen</PresentationFormat>
  <Paragraphs>131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EMBEDDABLE LSM-TREE STORAGE ENGINE   DSA 0105-Object Oriented Programming With C++</vt:lpstr>
      <vt:lpstr>ABSTRACT</vt:lpstr>
      <vt:lpstr>PROBLEM STATEMENT</vt:lpstr>
      <vt:lpstr>OBJECTIVES</vt:lpstr>
      <vt:lpstr>PROPOSED SYSTEM</vt:lpstr>
      <vt:lpstr>SYSTEM ARCHITECTURE DIAGRAM</vt:lpstr>
      <vt:lpstr>MODULE 1: MEMTABLE AND WAL</vt:lpstr>
      <vt:lpstr>MODULE 2: SSTABLE WRITER AND READER</vt:lpstr>
      <vt:lpstr>MODULE 3: COMPACTION ENGINE</vt:lpstr>
      <vt:lpstr>MODULE 4: BENCHMARK AND FAULT INJECTION</vt:lpstr>
      <vt:lpstr>SAMPLE OUTPUT</vt:lpstr>
      <vt:lpstr>ADVANTAGES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Web-Based E-Healthcare System with Appointment Cancellation and Refund Feature</dc:title>
  <dc:creator>ARMURI PRADEEP</dc:creator>
  <cp:lastModifiedBy>prasanthofficial2005@gmail.com</cp:lastModifiedBy>
  <cp:revision>23</cp:revision>
  <dcterms:created xsi:type="dcterms:W3CDTF">2026-06-25T04:31:00Z</dcterms:created>
  <dcterms:modified xsi:type="dcterms:W3CDTF">2026-10-26T03:09:32Z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10F029C662D448A894376285F34B6B62_13</vt:lpwstr>
  </property>
  <property fmtid="{D5CDD505-2E9C-101B-9397-08002B2CF9AE}" pid="3" name="KSOProductBuildVer">
    <vt:lpwstr>1033-12.1.0.26880</vt:lpwstr>
  </property>
</Properties>
</file>